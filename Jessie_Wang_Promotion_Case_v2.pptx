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essiewang0926.github.io/Jessie-Capco-Journ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hevron 3"/>
          <p:cNvSpPr/>
          <p:nvPr/>
        </p:nvSpPr>
        <p:spPr>
          <a:xfrm>
            <a:off x="438912" y="109728"/>
            <a:ext cx="5806440" cy="402336"/>
          </a:xfrm>
          <a:prstGeom prst="chevron">
            <a:avLst/>
          </a:prstGeom>
          <a:solidFill>
            <a:srgbClr val="00BFA6"/>
          </a:solidFill>
          <a:ln>
            <a:solidFill>
              <a:srgbClr val="00B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8872"/>
            <a:ext cx="45720" cy="365760"/>
          </a:xfrm>
          <a:prstGeom prst="rect">
            <a:avLst/>
          </a:prstGeom>
          <a:solidFill>
            <a:srgbClr val="F0C040"/>
          </a:solidFill>
          <a:ln>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32588"/>
            <a:ext cx="5303520" cy="310896"/>
          </a:xfrm>
          <a:prstGeom prst="rect">
            <a:avLst/>
          </a:prstGeom>
          <a:noFill/>
        </p:spPr>
        <p:txBody>
          <a:bodyPr wrap="square" lIns="73152" rIns="73152" anchor="t">
            <a:spAutoFit/>
          </a:bodyPr>
          <a:lstStyle/>
          <a:p>
            <a:pPr algn="l"/>
            <a:r>
              <a:rPr sz="2400" b="0">
                <a:solidFill>
                  <a:srgbClr val="FFFFFF"/>
                </a:solidFill>
                <a:latin typeface="Aptos"/>
              </a:rPr>
              <a:t>Jessie Wang</a:t>
            </a:r>
          </a:p>
        </p:txBody>
      </p:sp>
      <p:sp>
        <p:nvSpPr>
          <p:cNvPr id="7" name="Rectangle 6"/>
          <p:cNvSpPr/>
          <p:nvPr/>
        </p:nvSpPr>
        <p:spPr>
          <a:xfrm>
            <a:off x="566928" y="548640"/>
            <a:ext cx="10927080" cy="9144"/>
          </a:xfrm>
          <a:prstGeom prst="rect">
            <a:avLst/>
          </a:prstGeom>
          <a:solidFill>
            <a:srgbClr val="00BFA6"/>
          </a:solidFill>
          <a:ln>
            <a:solidFill>
              <a:srgbClr val="00B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877824"/>
            <a:ext cx="7543800" cy="21031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886968"/>
            <a:ext cx="1417320" cy="146304"/>
          </a:xfrm>
          <a:prstGeom prst="rect">
            <a:avLst/>
          </a:prstGeom>
          <a:noFill/>
        </p:spPr>
        <p:txBody>
          <a:bodyPr wrap="square" lIns="73152" rIns="73152" anchor="t">
            <a:spAutoFit/>
          </a:bodyPr>
          <a:lstStyle/>
          <a:p>
            <a:pPr algn="l"/>
            <a:r>
              <a:rPr sz="1050" b="0">
                <a:solidFill>
                  <a:srgbClr val="1F2937"/>
                </a:solidFill>
                <a:latin typeface="Aptos"/>
              </a:rPr>
              <a:t>Domain and Capability:</a:t>
            </a:r>
          </a:p>
        </p:txBody>
      </p:sp>
      <p:sp>
        <p:nvSpPr>
          <p:cNvPr id="10" name="TextBox 9"/>
          <p:cNvSpPr txBox="1"/>
          <p:nvPr/>
        </p:nvSpPr>
        <p:spPr>
          <a:xfrm>
            <a:off x="1517904" y="886968"/>
            <a:ext cx="6400800" cy="146304"/>
          </a:xfrm>
          <a:prstGeom prst="rect">
            <a:avLst/>
          </a:prstGeom>
          <a:noFill/>
        </p:spPr>
        <p:txBody>
          <a:bodyPr wrap="square" lIns="73152" rIns="73152" anchor="t">
            <a:spAutoFit/>
          </a:bodyPr>
          <a:lstStyle/>
          <a:p>
            <a:pPr algn="l"/>
            <a:r>
              <a:rPr sz="1050" b="0">
                <a:solidFill>
                  <a:srgbClr val="415062"/>
                </a:solidFill>
                <a:latin typeface="Aptos"/>
              </a:rPr>
              <a:t>Cross Domain / AI Product, Program &amp; Commercial Enablement</a:t>
            </a:r>
          </a:p>
        </p:txBody>
      </p:sp>
      <p:sp>
        <p:nvSpPr>
          <p:cNvPr id="11" name="Rectangle 10"/>
          <p:cNvSpPr/>
          <p:nvPr/>
        </p:nvSpPr>
        <p:spPr>
          <a:xfrm>
            <a:off x="585216" y="1115568"/>
            <a:ext cx="7543800" cy="21031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124712"/>
            <a:ext cx="1417320" cy="146304"/>
          </a:xfrm>
          <a:prstGeom prst="rect">
            <a:avLst/>
          </a:prstGeom>
          <a:noFill/>
        </p:spPr>
        <p:txBody>
          <a:bodyPr wrap="square" lIns="73152" rIns="73152" anchor="t">
            <a:spAutoFit/>
          </a:bodyPr>
          <a:lstStyle/>
          <a:p>
            <a:pPr algn="l"/>
            <a:r>
              <a:rPr sz="1050" b="0">
                <a:solidFill>
                  <a:srgbClr val="1F2937"/>
                </a:solidFill>
                <a:latin typeface="Aptos"/>
              </a:rPr>
              <a:t>Current Level:</a:t>
            </a:r>
          </a:p>
        </p:txBody>
      </p:sp>
      <p:sp>
        <p:nvSpPr>
          <p:cNvPr id="13" name="TextBox 12"/>
          <p:cNvSpPr txBox="1"/>
          <p:nvPr/>
        </p:nvSpPr>
        <p:spPr>
          <a:xfrm>
            <a:off x="1517904" y="1124712"/>
            <a:ext cx="6400800" cy="146304"/>
          </a:xfrm>
          <a:prstGeom prst="rect">
            <a:avLst/>
          </a:prstGeom>
          <a:noFill/>
        </p:spPr>
        <p:txBody>
          <a:bodyPr wrap="square" lIns="73152" rIns="73152" anchor="t">
            <a:spAutoFit/>
          </a:bodyPr>
          <a:lstStyle/>
          <a:p>
            <a:pPr algn="l"/>
            <a:r>
              <a:rPr sz="1050" b="0">
                <a:solidFill>
                  <a:srgbClr val="415062"/>
                </a:solidFill>
                <a:latin typeface="Aptos"/>
              </a:rPr>
              <a:t>Senior Consultant</a:t>
            </a:r>
          </a:p>
        </p:txBody>
      </p:sp>
      <p:sp>
        <p:nvSpPr>
          <p:cNvPr id="14" name="Rectangle 13"/>
          <p:cNvSpPr/>
          <p:nvPr/>
        </p:nvSpPr>
        <p:spPr>
          <a:xfrm>
            <a:off x="585216" y="1353312"/>
            <a:ext cx="7543800" cy="21031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362456"/>
            <a:ext cx="1417320" cy="146304"/>
          </a:xfrm>
          <a:prstGeom prst="rect">
            <a:avLst/>
          </a:prstGeom>
          <a:noFill/>
        </p:spPr>
        <p:txBody>
          <a:bodyPr wrap="square" lIns="73152" rIns="73152" anchor="t">
            <a:spAutoFit/>
          </a:bodyPr>
          <a:lstStyle/>
          <a:p>
            <a:pPr algn="l"/>
            <a:r>
              <a:rPr sz="1050" b="0">
                <a:solidFill>
                  <a:srgbClr val="1F2937"/>
                </a:solidFill>
                <a:latin typeface="Aptos"/>
              </a:rPr>
              <a:t>Time at Level:</a:t>
            </a:r>
          </a:p>
        </p:txBody>
      </p:sp>
      <p:sp>
        <p:nvSpPr>
          <p:cNvPr id="16" name="TextBox 15"/>
          <p:cNvSpPr txBox="1"/>
          <p:nvPr/>
        </p:nvSpPr>
        <p:spPr>
          <a:xfrm>
            <a:off x="1517904" y="1362456"/>
            <a:ext cx="6400800" cy="146304"/>
          </a:xfrm>
          <a:prstGeom prst="rect">
            <a:avLst/>
          </a:prstGeom>
          <a:noFill/>
        </p:spPr>
        <p:txBody>
          <a:bodyPr wrap="square" lIns="73152" rIns="73152" anchor="t">
            <a:spAutoFit/>
          </a:bodyPr>
          <a:lstStyle/>
          <a:p>
            <a:pPr algn="l"/>
            <a:r>
              <a:rPr sz="1050" b="0">
                <a:solidFill>
                  <a:srgbClr val="415062"/>
                </a:solidFill>
                <a:latin typeface="Aptos"/>
              </a:rPr>
              <a:t>Just over 1 year at Capco</a:t>
            </a:r>
          </a:p>
        </p:txBody>
      </p:sp>
      <p:sp>
        <p:nvSpPr>
          <p:cNvPr id="17" name="Rectangle 16"/>
          <p:cNvSpPr/>
          <p:nvPr/>
        </p:nvSpPr>
        <p:spPr>
          <a:xfrm rot="10800000">
            <a:off x="8284464" y="868680"/>
            <a:ext cx="310896" cy="905256"/>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02752" y="960120"/>
            <a:ext cx="256032" cy="731520"/>
          </a:xfrm>
          <a:prstGeom prst="rect">
            <a:avLst/>
          </a:prstGeom>
          <a:noFill/>
        </p:spPr>
        <p:txBody>
          <a:bodyPr wrap="square" lIns="73152" rIns="73152" anchor="t">
            <a:spAutoFit/>
          </a:bodyPr>
          <a:lstStyle/>
          <a:p>
            <a:pPr algn="ctr"/>
            <a:r>
              <a:rPr sz="1200" b="0">
                <a:solidFill>
                  <a:srgbClr val="FFFFFF"/>
                </a:solidFill>
                <a:latin typeface="Aptos"/>
              </a:rPr>
              <a:t>Ratings</a:t>
            </a:r>
          </a:p>
        </p:txBody>
      </p:sp>
      <p:sp>
        <p:nvSpPr>
          <p:cNvPr id="19" name="TextBox 18"/>
          <p:cNvSpPr txBox="1"/>
          <p:nvPr/>
        </p:nvSpPr>
        <p:spPr>
          <a:xfrm>
            <a:off x="8732520" y="868680"/>
            <a:ext cx="1325880" cy="164592"/>
          </a:xfrm>
          <a:prstGeom prst="rect">
            <a:avLst/>
          </a:prstGeom>
          <a:noFill/>
        </p:spPr>
        <p:txBody>
          <a:bodyPr wrap="square" lIns="73152" rIns="73152" anchor="t">
            <a:spAutoFit/>
          </a:bodyPr>
          <a:lstStyle/>
          <a:p>
            <a:pPr algn="l"/>
            <a:r>
              <a:rPr sz="1050" b="0">
                <a:solidFill>
                  <a:srgbClr val="1F2937"/>
                </a:solidFill>
                <a:latin typeface="Aptos"/>
              </a:rPr>
              <a:t>Previous cycle</a:t>
            </a:r>
          </a:p>
        </p:txBody>
      </p:sp>
      <p:sp>
        <p:nvSpPr>
          <p:cNvPr id="20" name="TextBox 19"/>
          <p:cNvSpPr txBox="1"/>
          <p:nvPr/>
        </p:nvSpPr>
        <p:spPr>
          <a:xfrm>
            <a:off x="8732520" y="1115568"/>
            <a:ext cx="749808" cy="146304"/>
          </a:xfrm>
          <a:prstGeom prst="rect">
            <a:avLst/>
          </a:prstGeom>
          <a:noFill/>
        </p:spPr>
        <p:txBody>
          <a:bodyPr wrap="square" lIns="73152" rIns="73152" anchor="t">
            <a:spAutoFit/>
          </a:bodyPr>
          <a:lstStyle/>
          <a:p>
            <a:pPr algn="l"/>
            <a:r>
              <a:rPr sz="1050" b="0">
                <a:solidFill>
                  <a:srgbClr val="415062"/>
                </a:solidFill>
                <a:latin typeface="Aptos"/>
              </a:rPr>
              <a:t>Core:</a:t>
            </a:r>
          </a:p>
        </p:txBody>
      </p:sp>
      <p:sp>
        <p:nvSpPr>
          <p:cNvPr id="21" name="Rectangle 20"/>
          <p:cNvSpPr/>
          <p:nvPr/>
        </p:nvSpPr>
        <p:spPr>
          <a:xfrm>
            <a:off x="9482328" y="1110996"/>
            <a:ext cx="43891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32520" y="1325880"/>
            <a:ext cx="749808" cy="146304"/>
          </a:xfrm>
          <a:prstGeom prst="rect">
            <a:avLst/>
          </a:prstGeom>
          <a:noFill/>
        </p:spPr>
        <p:txBody>
          <a:bodyPr wrap="square" lIns="73152" rIns="73152" anchor="t">
            <a:spAutoFit/>
          </a:bodyPr>
          <a:lstStyle/>
          <a:p>
            <a:pPr algn="l"/>
            <a:r>
              <a:rPr sz="1050" b="0">
                <a:solidFill>
                  <a:srgbClr val="415062"/>
                </a:solidFill>
                <a:latin typeface="Aptos"/>
              </a:rPr>
              <a:t>Community:</a:t>
            </a:r>
          </a:p>
        </p:txBody>
      </p:sp>
      <p:sp>
        <p:nvSpPr>
          <p:cNvPr id="23" name="Rectangle 22"/>
          <p:cNvSpPr/>
          <p:nvPr/>
        </p:nvSpPr>
        <p:spPr>
          <a:xfrm>
            <a:off x="9482328" y="1321308"/>
            <a:ext cx="43891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32520" y="1536192"/>
            <a:ext cx="749808" cy="146304"/>
          </a:xfrm>
          <a:prstGeom prst="rect">
            <a:avLst/>
          </a:prstGeom>
          <a:noFill/>
        </p:spPr>
        <p:txBody>
          <a:bodyPr wrap="square" lIns="73152" rIns="73152" anchor="t">
            <a:spAutoFit/>
          </a:bodyPr>
          <a:lstStyle/>
          <a:p>
            <a:pPr algn="l"/>
            <a:r>
              <a:rPr sz="1050" b="0">
                <a:solidFill>
                  <a:srgbClr val="415062"/>
                </a:solidFill>
                <a:latin typeface="Aptos"/>
              </a:rPr>
              <a:t>Commercials:</a:t>
            </a:r>
          </a:p>
        </p:txBody>
      </p:sp>
      <p:sp>
        <p:nvSpPr>
          <p:cNvPr id="25" name="Rectangle 24"/>
          <p:cNvSpPr/>
          <p:nvPr/>
        </p:nvSpPr>
        <p:spPr>
          <a:xfrm>
            <a:off x="9482328" y="1531620"/>
            <a:ext cx="43891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69880" y="868680"/>
            <a:ext cx="1325880" cy="164592"/>
          </a:xfrm>
          <a:prstGeom prst="rect">
            <a:avLst/>
          </a:prstGeom>
          <a:noFill/>
        </p:spPr>
        <p:txBody>
          <a:bodyPr wrap="square" lIns="73152" rIns="73152" anchor="t">
            <a:spAutoFit/>
          </a:bodyPr>
          <a:lstStyle/>
          <a:p>
            <a:pPr algn="l"/>
            <a:r>
              <a:rPr sz="1050" b="0">
                <a:solidFill>
                  <a:srgbClr val="1F2937"/>
                </a:solidFill>
                <a:latin typeface="Aptos"/>
              </a:rPr>
              <a:t>Current cycle</a:t>
            </a:r>
          </a:p>
        </p:txBody>
      </p:sp>
      <p:sp>
        <p:nvSpPr>
          <p:cNvPr id="27" name="TextBox 26"/>
          <p:cNvSpPr txBox="1"/>
          <p:nvPr/>
        </p:nvSpPr>
        <p:spPr>
          <a:xfrm>
            <a:off x="10469880" y="987552"/>
            <a:ext cx="1325880" cy="128016"/>
          </a:xfrm>
          <a:prstGeom prst="rect">
            <a:avLst/>
          </a:prstGeom>
          <a:noFill/>
        </p:spPr>
        <p:txBody>
          <a:bodyPr wrap="square" lIns="73152" rIns="73152" anchor="t">
            <a:spAutoFit/>
          </a:bodyPr>
          <a:lstStyle/>
          <a:p>
            <a:pPr algn="l"/>
            <a:r>
              <a:rPr sz="850" b="0">
                <a:solidFill>
                  <a:srgbClr val="5F6F88"/>
                </a:solidFill>
                <a:latin typeface="Aptos"/>
              </a:rPr>
              <a:t>(suggested preliminary)</a:t>
            </a:r>
          </a:p>
        </p:txBody>
      </p:sp>
      <p:sp>
        <p:nvSpPr>
          <p:cNvPr id="28" name="TextBox 27"/>
          <p:cNvSpPr txBox="1"/>
          <p:nvPr/>
        </p:nvSpPr>
        <p:spPr>
          <a:xfrm>
            <a:off x="10469880" y="1115568"/>
            <a:ext cx="749808" cy="146304"/>
          </a:xfrm>
          <a:prstGeom prst="rect">
            <a:avLst/>
          </a:prstGeom>
          <a:noFill/>
        </p:spPr>
        <p:txBody>
          <a:bodyPr wrap="square" lIns="73152" rIns="73152" anchor="t">
            <a:spAutoFit/>
          </a:bodyPr>
          <a:lstStyle/>
          <a:p>
            <a:pPr algn="l"/>
            <a:r>
              <a:rPr sz="1050" b="0">
                <a:solidFill>
                  <a:srgbClr val="415062"/>
                </a:solidFill>
                <a:latin typeface="Aptos"/>
              </a:rPr>
              <a:t>Core:</a:t>
            </a:r>
          </a:p>
        </p:txBody>
      </p:sp>
      <p:sp>
        <p:nvSpPr>
          <p:cNvPr id="29" name="Rectangle 28"/>
          <p:cNvSpPr/>
          <p:nvPr/>
        </p:nvSpPr>
        <p:spPr>
          <a:xfrm>
            <a:off x="11219688" y="1110996"/>
            <a:ext cx="43891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69880" y="1325880"/>
            <a:ext cx="749808" cy="146304"/>
          </a:xfrm>
          <a:prstGeom prst="rect">
            <a:avLst/>
          </a:prstGeom>
          <a:noFill/>
        </p:spPr>
        <p:txBody>
          <a:bodyPr wrap="square" lIns="73152" rIns="73152" anchor="t">
            <a:spAutoFit/>
          </a:bodyPr>
          <a:lstStyle/>
          <a:p>
            <a:pPr algn="l"/>
            <a:r>
              <a:rPr sz="1050" b="0">
                <a:solidFill>
                  <a:srgbClr val="415062"/>
                </a:solidFill>
                <a:latin typeface="Aptos"/>
              </a:rPr>
              <a:t>Community:</a:t>
            </a:r>
          </a:p>
        </p:txBody>
      </p:sp>
      <p:sp>
        <p:nvSpPr>
          <p:cNvPr id="31" name="Rectangle 30"/>
          <p:cNvSpPr/>
          <p:nvPr/>
        </p:nvSpPr>
        <p:spPr>
          <a:xfrm>
            <a:off x="11219688" y="1321308"/>
            <a:ext cx="43891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69880" y="1536192"/>
            <a:ext cx="749808" cy="146304"/>
          </a:xfrm>
          <a:prstGeom prst="rect">
            <a:avLst/>
          </a:prstGeom>
          <a:noFill/>
        </p:spPr>
        <p:txBody>
          <a:bodyPr wrap="square" lIns="73152" rIns="73152" anchor="t">
            <a:spAutoFit/>
          </a:bodyPr>
          <a:lstStyle/>
          <a:p>
            <a:pPr algn="l"/>
            <a:r>
              <a:rPr sz="1050" b="0">
                <a:solidFill>
                  <a:srgbClr val="415062"/>
                </a:solidFill>
                <a:latin typeface="Aptos"/>
              </a:rPr>
              <a:t>Commercials:</a:t>
            </a:r>
          </a:p>
        </p:txBody>
      </p:sp>
      <p:sp>
        <p:nvSpPr>
          <p:cNvPr id="33" name="Rectangle 32"/>
          <p:cNvSpPr/>
          <p:nvPr/>
        </p:nvSpPr>
        <p:spPr>
          <a:xfrm>
            <a:off x="11219688" y="1531620"/>
            <a:ext cx="43891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5216" y="1783080"/>
            <a:ext cx="5074920" cy="201168"/>
          </a:xfrm>
          <a:prstGeom prst="rect">
            <a:avLst/>
          </a:prstGeom>
          <a:solidFill>
            <a:srgbClr val="15B3BE"/>
          </a:solidFill>
          <a:ln>
            <a:solidFill>
              <a:srgbClr val="15B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216" y="1764792"/>
            <a:ext cx="5074920" cy="164592"/>
          </a:xfrm>
          <a:prstGeom prst="rect">
            <a:avLst/>
          </a:prstGeom>
          <a:noFill/>
        </p:spPr>
        <p:txBody>
          <a:bodyPr wrap="square" lIns="73152" rIns="73152" anchor="t">
            <a:spAutoFit/>
          </a:bodyPr>
          <a:lstStyle/>
          <a:p>
            <a:pPr algn="ctr"/>
            <a:r>
              <a:rPr sz="1400" b="0">
                <a:solidFill>
                  <a:srgbClr val="FFFFFF"/>
                </a:solidFill>
                <a:latin typeface="Aptos"/>
              </a:rPr>
              <a:t>Core Performance</a:t>
            </a:r>
          </a:p>
        </p:txBody>
      </p:sp>
      <p:sp>
        <p:nvSpPr>
          <p:cNvPr id="36" name="Rectangle 35"/>
          <p:cNvSpPr/>
          <p:nvPr/>
        </p:nvSpPr>
        <p:spPr>
          <a:xfrm>
            <a:off x="5751576" y="1783080"/>
            <a:ext cx="5888736" cy="201168"/>
          </a:xfrm>
          <a:prstGeom prst="rect">
            <a:avLst/>
          </a:prstGeom>
          <a:solidFill>
            <a:srgbClr val="0F6770"/>
          </a:solidFill>
          <a:ln>
            <a:solidFill>
              <a:srgbClr val="0F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51576" y="1764792"/>
            <a:ext cx="5888736" cy="164592"/>
          </a:xfrm>
          <a:prstGeom prst="rect">
            <a:avLst/>
          </a:prstGeom>
          <a:noFill/>
        </p:spPr>
        <p:txBody>
          <a:bodyPr wrap="square" lIns="73152" rIns="73152" anchor="t">
            <a:spAutoFit/>
          </a:bodyPr>
          <a:lstStyle/>
          <a:p>
            <a:pPr algn="ctr"/>
            <a:r>
              <a:rPr sz="1400" b="0">
                <a:solidFill>
                  <a:srgbClr val="FFFFFF"/>
                </a:solidFill>
                <a:latin typeface="Aptos"/>
              </a:rPr>
              <a:t>Employee Commercials</a:t>
            </a:r>
          </a:p>
        </p:txBody>
      </p:sp>
      <p:sp>
        <p:nvSpPr>
          <p:cNvPr id="38" name="Rectangle 37"/>
          <p:cNvSpPr/>
          <p:nvPr/>
        </p:nvSpPr>
        <p:spPr>
          <a:xfrm>
            <a:off x="5751576" y="4187952"/>
            <a:ext cx="2404872" cy="201168"/>
          </a:xfrm>
          <a:prstGeom prst="rect">
            <a:avLst/>
          </a:prstGeom>
          <a:solidFill>
            <a:srgbClr val="FFC43A"/>
          </a:solidFill>
          <a:ln>
            <a:solidFill>
              <a:srgbClr val="FFC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51576" y="4169663"/>
            <a:ext cx="2404872" cy="164592"/>
          </a:xfrm>
          <a:prstGeom prst="rect">
            <a:avLst/>
          </a:prstGeom>
          <a:noFill/>
        </p:spPr>
        <p:txBody>
          <a:bodyPr wrap="square" lIns="73152" rIns="73152" anchor="t">
            <a:spAutoFit/>
          </a:bodyPr>
          <a:lstStyle/>
          <a:p>
            <a:pPr algn="ctr"/>
            <a:r>
              <a:rPr sz="1400" b="0">
                <a:solidFill>
                  <a:srgbClr val="FFFFFF"/>
                </a:solidFill>
                <a:latin typeface="Aptos"/>
              </a:rPr>
              <a:t>Community Contribution</a:t>
            </a:r>
          </a:p>
        </p:txBody>
      </p:sp>
      <p:sp>
        <p:nvSpPr>
          <p:cNvPr id="40" name="Rectangle 39"/>
          <p:cNvSpPr/>
          <p:nvPr/>
        </p:nvSpPr>
        <p:spPr>
          <a:xfrm>
            <a:off x="8302752" y="4187952"/>
            <a:ext cx="3877056" cy="20116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02752" y="4169663"/>
            <a:ext cx="3877056" cy="164592"/>
          </a:xfrm>
          <a:prstGeom prst="rect">
            <a:avLst/>
          </a:prstGeom>
          <a:noFill/>
        </p:spPr>
        <p:txBody>
          <a:bodyPr wrap="square" lIns="73152" rIns="73152" anchor="t">
            <a:spAutoFit/>
          </a:bodyPr>
          <a:lstStyle/>
          <a:p>
            <a:pPr algn="ctr"/>
            <a:r>
              <a:rPr sz="1400" b="0">
                <a:solidFill>
                  <a:srgbClr val="FFFFFF"/>
                </a:solidFill>
                <a:latin typeface="Aptos"/>
              </a:rPr>
              <a:t>Client commercials</a:t>
            </a:r>
          </a:p>
        </p:txBody>
      </p:sp>
      <p:sp>
        <p:nvSpPr>
          <p:cNvPr id="42" name="Rectangle 41"/>
          <p:cNvSpPr/>
          <p:nvPr/>
        </p:nvSpPr>
        <p:spPr>
          <a:xfrm>
            <a:off x="585216" y="1984248"/>
            <a:ext cx="5074920" cy="4233672"/>
          </a:xfrm>
          <a:prstGeom prst="rect">
            <a:avLst/>
          </a:prstGeom>
          <a:solidFill>
            <a:srgbClr val="D7F1F3"/>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751576" y="1984248"/>
            <a:ext cx="5888736" cy="1984248"/>
          </a:xfrm>
          <a:prstGeom prst="rect">
            <a:avLst/>
          </a:prstGeom>
          <a:solidFill>
            <a:srgbClr val="EEF8F9"/>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51576" y="4389120"/>
            <a:ext cx="2404872" cy="1837943"/>
          </a:xfrm>
          <a:prstGeom prst="rect">
            <a:avLst/>
          </a:prstGeom>
          <a:solidFill>
            <a:srgbClr val="FFF0C7"/>
          </a:solidFill>
          <a:ln>
            <a:solidFill>
              <a:srgbClr val="ECE1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302752" y="4389120"/>
            <a:ext cx="3877056" cy="1837943"/>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 y="2066543"/>
            <a:ext cx="4663440" cy="201168"/>
          </a:xfrm>
          <a:prstGeom prst="rect">
            <a:avLst/>
          </a:prstGeom>
          <a:noFill/>
        </p:spPr>
        <p:txBody>
          <a:bodyPr wrap="square" lIns="73152" rIns="73152" anchor="t">
            <a:spAutoFit/>
          </a:bodyPr>
          <a:lstStyle/>
          <a:p>
            <a:pPr algn="l"/>
            <a:r>
              <a:rPr sz="1500" b="1">
                <a:solidFill>
                  <a:srgbClr val="1F2937"/>
                </a:solidFill>
                <a:latin typeface="Aptos"/>
              </a:rPr>
              <a:t>Jefferies / JefAI</a:t>
            </a:r>
          </a:p>
        </p:txBody>
      </p:sp>
      <p:sp>
        <p:nvSpPr>
          <p:cNvPr id="47" name="TextBox 46"/>
          <p:cNvSpPr txBox="1"/>
          <p:nvPr/>
        </p:nvSpPr>
        <p:spPr>
          <a:xfrm>
            <a:off x="658368" y="2267712"/>
            <a:ext cx="4736592" cy="457200"/>
          </a:xfrm>
          <a:prstGeom prst="rect">
            <a:avLst/>
          </a:prstGeom>
          <a:noFill/>
        </p:spPr>
        <p:txBody>
          <a:bodyPr wrap="square" lIns="73152" rIns="73152" anchor="t">
            <a:spAutoFit/>
          </a:bodyPr>
          <a:lstStyle/>
          <a:p>
            <a:pPr algn="l"/>
            <a:r>
              <a:rPr sz="1060" b="0">
                <a:solidFill>
                  <a:srgbClr val="415062"/>
                </a:solidFill>
                <a:latin typeface="Aptos"/>
              </a:rPr>
              <a:t>Over the past year, my primary focus has been client delivery and product leadership for Jefferies. I progressed from an AI-intake consultant into the appointed JefAI Product Lead, owning the roadmap, day-to-day product management, stakeholder engagement, and programme visibility for Jefferies' enterprise AI platform.</a:t>
            </a:r>
          </a:p>
        </p:txBody>
      </p:sp>
      <p:sp>
        <p:nvSpPr>
          <p:cNvPr id="48" name="TextBox 47"/>
          <p:cNvSpPr txBox="1"/>
          <p:nvPr/>
        </p:nvSpPr>
        <p:spPr>
          <a:xfrm>
            <a:off x="658368" y="2697480"/>
            <a:ext cx="4389120" cy="164592"/>
          </a:xfrm>
          <a:prstGeom prst="rect">
            <a:avLst/>
          </a:prstGeom>
          <a:noFill/>
        </p:spPr>
        <p:txBody>
          <a:bodyPr wrap="square" lIns="73152" rIns="73152" anchor="t">
            <a:spAutoFit/>
          </a:bodyPr>
          <a:lstStyle/>
          <a:p>
            <a:pPr algn="l"/>
            <a:r>
              <a:rPr sz="1220" b="1">
                <a:solidFill>
                  <a:srgbClr val="1F2937"/>
                </a:solidFill>
                <a:latin typeface="Aptos"/>
              </a:rPr>
              <a:t>Key Achievements / Performance Differentiators</a:t>
            </a:r>
          </a:p>
        </p:txBody>
      </p:sp>
      <p:sp>
        <p:nvSpPr>
          <p:cNvPr id="49" name="TextBox 48"/>
          <p:cNvSpPr txBox="1"/>
          <p:nvPr/>
        </p:nvSpPr>
        <p:spPr>
          <a:xfrm>
            <a:off x="658368" y="2880360"/>
            <a:ext cx="4736592" cy="2240280"/>
          </a:xfrm>
          <a:prstGeom prst="rect">
            <a:avLst/>
          </a:prstGeom>
          <a:noFill/>
        </p:spPr>
        <p:txBody>
          <a:bodyPr wrap="square" lIns="54864" tIns="18288" rIns="36576" bIns="18288">
            <a:spAutoFit/>
          </a:bodyPr>
          <a:lstStyle/>
          <a:p>
            <a:pPr>
              <a:spcAft>
                <a:spcPts val="200"/>
              </a:spcAft>
              <a:defRPr sz="969">
                <a:solidFill>
                  <a:srgbClr val="39485A"/>
                </a:solidFill>
                <a:latin typeface="Aptos"/>
              </a:defRPr>
            </a:pPr>
            <a:r>
              <a:t>JefAI Product Lead: took ownership of product leadership for Jefferies' AI platform after my initial engagement was extended into a full-year contract, demonstrating trusted client ownership beyond an intake/proof-of-concept role.</a:t>
            </a:r>
          </a:p>
          <a:p>
            <a:pPr>
              <a:spcAft>
                <a:spcPts val="200"/>
              </a:spcAft>
              <a:defRPr sz="969">
                <a:solidFill>
                  <a:srgbClr val="39485A"/>
                </a:solidFill>
                <a:latin typeface="Aptos"/>
              </a:defRPr>
            </a:pPr>
            <a:r>
              <a:t>Roadmap and governance: created Jefferies' first AI product roadmap and designed the JefAI programme dashboard to give stakeholders visibility into roadmap progress, risks, status and KPIs.</a:t>
            </a:r>
          </a:p>
          <a:p>
            <a:pPr>
              <a:spcAft>
                <a:spcPts val="200"/>
              </a:spcAft>
              <a:defRPr sz="969">
                <a:solidFill>
                  <a:srgbClr val="39485A"/>
                </a:solidFill>
                <a:latin typeface="Aptos"/>
              </a:defRPr>
            </a:pPr>
            <a:r>
              <a:t>Operating at scale: manage product across an engineering organisation of approximately 26 people and coordinate with MP/ED/C-level stakeholders on priorities, delivery sequencing and platform evolution.</a:t>
            </a:r>
          </a:p>
          <a:p>
            <a:pPr>
              <a:spcAft>
                <a:spcPts val="200"/>
              </a:spcAft>
              <a:defRPr sz="969">
                <a:solidFill>
                  <a:srgbClr val="39485A"/>
                </a:solidFill>
                <a:latin typeface="Aptos"/>
              </a:defRPr>
            </a:pPr>
            <a:r>
              <a:t>Programme leadership: helped move Jefferies from fragmented AI intake activity into a more structured, sustained product programme with repeatable roadmap execution and clear stakeholder alignment.</a:t>
            </a:r>
          </a:p>
          <a:p>
            <a:pPr>
              <a:spcAft>
                <a:spcPts val="200"/>
              </a:spcAft>
              <a:defRPr sz="969">
                <a:solidFill>
                  <a:srgbClr val="39485A"/>
                </a:solidFill>
                <a:latin typeface="Aptos"/>
              </a:defRPr>
            </a:pPr>
            <a:r>
              <a:t>Leadership trajectory: the next step is to become the AI lead across the broader Jefferies AI programme, overseeing multiple AI workstreams given that I have helped build this from the ground up, work directly with C-level stakeholders and built strong relationships across divisions.</a:t>
            </a:r>
          </a:p>
          <a:p>
            <a:pPr>
              <a:spcAft>
                <a:spcPts val="200"/>
              </a:spcAft>
              <a:defRPr sz="969">
                <a:solidFill>
                  <a:srgbClr val="39485A"/>
                </a:solidFill>
                <a:latin typeface="Aptos"/>
              </a:defRPr>
            </a:pPr>
            <a:r>
              <a:t>Trusted delivery leadership: acted as the pointed deputy for an MP-level AI programme delivery lead and helped run the team through roadmap communication, stakeholder coordination and delivery structure.</a:t>
            </a:r>
          </a:p>
          <a:p>
            <a:pPr>
              <a:spcAft>
                <a:spcPts val="200"/>
              </a:spcAft>
              <a:defRPr sz="969">
                <a:solidFill>
                  <a:srgbClr val="39485A"/>
                </a:solidFill>
                <a:latin typeface="Aptos"/>
              </a:defRPr>
            </a:pPr>
            <a:r>
              <a:t>Executive visibility: became a regular speaker on the Jefferies AI Ambassadors call, presenting new solutions and sharing AI insight with a broader business audience.</a:t>
            </a:r>
          </a:p>
        </p:txBody>
      </p:sp>
      <p:sp>
        <p:nvSpPr>
          <p:cNvPr id="50" name="TextBox 49"/>
          <p:cNvSpPr txBox="1"/>
          <p:nvPr/>
        </p:nvSpPr>
        <p:spPr>
          <a:xfrm>
            <a:off x="658368" y="5148072"/>
            <a:ext cx="3840480" cy="164592"/>
          </a:xfrm>
          <a:prstGeom prst="rect">
            <a:avLst/>
          </a:prstGeom>
          <a:noFill/>
        </p:spPr>
        <p:txBody>
          <a:bodyPr wrap="square" lIns="73152" rIns="73152" anchor="t">
            <a:spAutoFit/>
          </a:bodyPr>
          <a:lstStyle/>
          <a:p>
            <a:pPr algn="l"/>
            <a:r>
              <a:rPr sz="1220" b="1">
                <a:solidFill>
                  <a:srgbClr val="1F2937"/>
                </a:solidFill>
                <a:latin typeface="Aptos"/>
              </a:rPr>
              <a:t>Learning and forward planning</a:t>
            </a:r>
          </a:p>
        </p:txBody>
      </p:sp>
      <p:sp>
        <p:nvSpPr>
          <p:cNvPr id="51" name="TextBox 50"/>
          <p:cNvSpPr txBox="1"/>
          <p:nvPr/>
        </p:nvSpPr>
        <p:spPr>
          <a:xfrm>
            <a:off x="658368" y="5321808"/>
            <a:ext cx="4736592" cy="749808"/>
          </a:xfrm>
          <a:prstGeom prst="rect">
            <a:avLst/>
          </a:prstGeom>
          <a:noFill/>
        </p:spPr>
        <p:txBody>
          <a:bodyPr wrap="square" lIns="54864" tIns="18288" rIns="36576" bIns="18288">
            <a:spAutoFit/>
          </a:bodyPr>
          <a:lstStyle/>
          <a:p>
            <a:pPr>
              <a:spcAft>
                <a:spcPts val="200"/>
              </a:spcAft>
              <a:defRPr sz="969">
                <a:solidFill>
                  <a:srgbClr val="39485A"/>
                </a:solidFill>
                <a:latin typeface="Aptos"/>
              </a:defRPr>
            </a:pPr>
            <a:r>
              <a:t>The hands-on experience of building and leading Jefferies’ AI platform — from intake to enterprise roadmap — combined with running the Global AI Lab and Demo Day, has built deep expertise in AI product strategy, stakeholder management, and delivery at scale that transfers to any client and any domain.</a:t>
            </a:r>
          </a:p>
          <a:p>
            <a:pPr>
              <a:spcBef>
                <a:spcPts val="600"/>
              </a:spcBef>
            </a:pPr>
            <a:r>
              <a:t>This cross-domain and cross-account visibility — knowing what solutions exist, which teams can deliver them, and where commercial opportunities lie — positions me to support pursuits, RFPs, and demos across accounts, turning internal AI knowledge into repeatable commercial value for Capco.</a:t>
            </a:r>
          </a:p>
        </p:txBody>
      </p:sp>
      <p:sp>
        <p:nvSpPr>
          <p:cNvPr id="52" name="TextBox 51"/>
          <p:cNvSpPr txBox="1"/>
          <p:nvPr/>
        </p:nvSpPr>
        <p:spPr>
          <a:xfrm>
            <a:off x="5870448" y="2084831"/>
            <a:ext cx="4389120" cy="201168"/>
          </a:xfrm>
          <a:prstGeom prst="rect">
            <a:avLst/>
          </a:prstGeom>
          <a:noFill/>
        </p:spPr>
        <p:txBody>
          <a:bodyPr wrap="square" lIns="73152" rIns="73152" anchor="t">
            <a:spAutoFit/>
          </a:bodyPr>
          <a:lstStyle/>
          <a:p>
            <a:pPr algn="l"/>
            <a:r>
              <a:rPr sz="1400" b="1">
                <a:solidFill>
                  <a:srgbClr val="1F2937"/>
                </a:solidFill>
                <a:latin typeface="Aptos"/>
              </a:rPr>
              <a:t>Commercial impact and growth potential</a:t>
            </a:r>
          </a:p>
        </p:txBody>
      </p:sp>
      <p:sp>
        <p:nvSpPr>
          <p:cNvPr id="53" name="TextBox 52"/>
          <p:cNvSpPr txBox="1"/>
          <p:nvPr/>
        </p:nvSpPr>
        <p:spPr>
          <a:xfrm>
            <a:off x="5833872" y="2340864"/>
            <a:ext cx="5486400" cy="1042415"/>
          </a:xfrm>
          <a:prstGeom prst="rect">
            <a:avLst/>
          </a:prstGeom>
          <a:noFill/>
        </p:spPr>
        <p:txBody>
          <a:bodyPr wrap="square" lIns="54864" tIns="18288" rIns="36576" bIns="18288">
            <a:spAutoFit/>
          </a:bodyPr>
          <a:lstStyle/>
          <a:p>
            <a:pPr>
              <a:spcAft>
                <a:spcPts val="200"/>
              </a:spcAft>
              <a:defRPr sz="1010">
                <a:solidFill>
                  <a:srgbClr val="39485A"/>
                </a:solidFill>
                <a:latin typeface="Aptos"/>
              </a:defRPr>
            </a:pPr>
            <a:r>
              <a:t>I helped convert my Jefferies work from an initial AI intake/proof phase into a year-long product engagement, directly supporting continued revenue on the account.</a:t>
            </a:r>
          </a:p>
          <a:p>
            <a:pPr>
              <a:spcAft>
                <a:spcPts val="200"/>
              </a:spcAft>
              <a:defRPr sz="1010">
                <a:solidFill>
                  <a:srgbClr val="39485A"/>
                </a:solidFill>
                <a:latin typeface="Aptos"/>
              </a:defRPr>
            </a:pPr>
            <a:r>
              <a:t>By leading the JefAI roadmap and enterprise product direction, I am helping create scope for additional AI platform work and future solution expansion at Jefferies.</a:t>
            </a:r>
          </a:p>
          <a:p>
            <a:pPr>
              <a:spcAft>
                <a:spcPts val="200"/>
              </a:spcAft>
              <a:defRPr sz="1010">
                <a:solidFill>
                  <a:srgbClr val="39485A"/>
                </a:solidFill>
                <a:latin typeface="Aptos"/>
              </a:defRPr>
            </a:pPr>
            <a:r>
              <a:t>I contribute commercially by turning AI demos, product assets and market-facing storytelling into materials that can support pursuits, stakeholder buy-in and downstream sales opportunities.</a:t>
            </a:r>
          </a:p>
          <a:p>
            <a:pPr>
              <a:spcAft>
                <a:spcPts val="200"/>
              </a:spcAft>
              <a:defRPr sz="1010">
                <a:solidFill>
                  <a:srgbClr val="39485A"/>
                </a:solidFill>
                <a:latin typeface="Aptos"/>
              </a:defRPr>
            </a:pPr>
            <a:r>
              <a:t>External speaking and thought leadership increase Capco's visibility in GenAI and can help generate future client conversations, brand credibility and pipeline opportunities.</a:t>
            </a:r>
          </a:p>
        </p:txBody>
      </p:sp>
      <p:sp>
        <p:nvSpPr>
          <p:cNvPr id="54" name="TextBox 53"/>
          <p:cNvSpPr txBox="1"/>
          <p:nvPr/>
        </p:nvSpPr>
        <p:spPr>
          <a:xfrm>
            <a:off x="5833872" y="3401568"/>
            <a:ext cx="5504688" cy="365760"/>
          </a:xfrm>
          <a:prstGeom prst="rect">
            <a:avLst/>
          </a:prstGeom>
          <a:noFill/>
        </p:spPr>
        <p:txBody>
          <a:bodyPr wrap="square" lIns="73152" rIns="73152" anchor="t">
            <a:spAutoFit/>
          </a:bodyPr>
          <a:lstStyle/>
          <a:p>
            <a:pPr algn="l"/>
            <a:r>
              <a:rPr sz="1030">
                <a:solidFill>
                  <a:srgbClr val="415062"/>
                </a:solidFill>
              </a:rPr>
              <a:t>Go-forward plan: leverage deep Jefferies delivery experience and AI Lab leadership to support commercial opportunities across domains and accounts. Continue building reusable AI assets, demos, and thought leadership that accelerate pursuits firm-wide — while expanding the Jefferies platform into a broader enterprise AI ecosystem.</a:t>
            </a:r>
          </a:p>
        </p:txBody>
      </p:sp>
      <p:sp>
        <p:nvSpPr>
          <p:cNvPr id="55" name="TextBox 54"/>
          <p:cNvSpPr txBox="1"/>
          <p:nvPr/>
        </p:nvSpPr>
        <p:spPr>
          <a:xfrm>
            <a:off x="5852160" y="4498848"/>
            <a:ext cx="2011680" cy="201168"/>
          </a:xfrm>
          <a:prstGeom prst="rect">
            <a:avLst/>
          </a:prstGeom>
          <a:noFill/>
        </p:spPr>
        <p:txBody>
          <a:bodyPr wrap="square" lIns="73152" rIns="73152" anchor="t">
            <a:spAutoFit/>
          </a:bodyPr>
          <a:lstStyle/>
          <a:p>
            <a:pPr algn="l"/>
            <a:r>
              <a:rPr sz="1250" b="1">
                <a:solidFill>
                  <a:srgbClr val="1F2937"/>
                </a:solidFill>
                <a:latin typeface="Aptos"/>
              </a:rPr>
              <a:t>Community contribution outside Jefferies</a:t>
            </a:r>
          </a:p>
        </p:txBody>
      </p:sp>
      <p:sp>
        <p:nvSpPr>
          <p:cNvPr id="56" name="TextBox 55"/>
          <p:cNvSpPr txBox="1"/>
          <p:nvPr/>
        </p:nvSpPr>
        <p:spPr>
          <a:xfrm>
            <a:off x="5833872" y="4718304"/>
            <a:ext cx="2194560" cy="1298448"/>
          </a:xfrm>
          <a:prstGeom prst="rect">
            <a:avLst/>
          </a:prstGeom>
          <a:noFill/>
        </p:spPr>
        <p:txBody>
          <a:bodyPr wrap="square" lIns="73152" rIns="73152" anchor="t">
            <a:spAutoFit/>
          </a:bodyPr>
          <a:lstStyle/>
          <a:p>
            <a:pPr algn="l"/>
            <a:r>
              <a:rPr sz="990" b="0">
                <a:solidFill>
                  <a:srgbClr val="415062"/>
                </a:solidFill>
                <a:latin typeface="Aptos"/>
              </a:rPr>
              <a:t>Outside my Jefferies work, I have focused on Capco community building and AI enablement. This includes scaling the US GenAI Lab, founding and expanding Global Demo Day, building the AI PO/PM capability, mentoring protégés, and supporting learning sessions for both technical and non-technical audiences.
I present Capco well externally and have been supported to participate on panels as an AI expert speaker for Capco, which strengthens our credibility while staying grounded in practical enterprise AI delivery.</a:t>
            </a:r>
          </a:p>
        </p:txBody>
      </p:sp>
      <p:sp>
        <p:nvSpPr>
          <p:cNvPr id="57" name="TextBox 56"/>
          <p:cNvSpPr txBox="1"/>
          <p:nvPr/>
        </p:nvSpPr>
        <p:spPr>
          <a:xfrm>
            <a:off x="8394192" y="4507992"/>
            <a:ext cx="1143000" cy="155448"/>
          </a:xfrm>
          <a:prstGeom prst="rect">
            <a:avLst/>
          </a:prstGeom>
          <a:noFill/>
        </p:spPr>
        <p:txBody>
          <a:bodyPr wrap="square" lIns="73152" rIns="73152" anchor="t">
            <a:spAutoFit/>
          </a:bodyPr>
          <a:lstStyle/>
          <a:p>
            <a:pPr algn="l"/>
            <a:r>
              <a:rPr sz="1050" b="0">
                <a:solidFill>
                  <a:srgbClr val="1F2937"/>
                </a:solidFill>
                <a:latin typeface="Aptos"/>
              </a:rPr>
              <a:t>Client :</a:t>
            </a:r>
          </a:p>
        </p:txBody>
      </p:sp>
      <p:sp>
        <p:nvSpPr>
          <p:cNvPr id="58" name="Rectangle 57"/>
          <p:cNvSpPr/>
          <p:nvPr/>
        </p:nvSpPr>
        <p:spPr>
          <a:xfrm>
            <a:off x="9436608" y="4503420"/>
            <a:ext cx="245059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394192" y="4764024"/>
            <a:ext cx="1143000" cy="155448"/>
          </a:xfrm>
          <a:prstGeom prst="rect">
            <a:avLst/>
          </a:prstGeom>
          <a:noFill/>
        </p:spPr>
        <p:txBody>
          <a:bodyPr wrap="square" lIns="73152" rIns="73152" anchor="t">
            <a:spAutoFit/>
          </a:bodyPr>
          <a:lstStyle/>
          <a:p>
            <a:pPr algn="l"/>
            <a:r>
              <a:rPr sz="1050" b="0">
                <a:solidFill>
                  <a:srgbClr val="1F2937"/>
                </a:solidFill>
                <a:latin typeface="Aptos"/>
              </a:rPr>
              <a:t>Project Manager:</a:t>
            </a:r>
          </a:p>
        </p:txBody>
      </p:sp>
      <p:sp>
        <p:nvSpPr>
          <p:cNvPr id="60" name="Rectangle 59"/>
          <p:cNvSpPr/>
          <p:nvPr/>
        </p:nvSpPr>
        <p:spPr>
          <a:xfrm>
            <a:off x="9436608" y="4759452"/>
            <a:ext cx="245059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94192" y="5020056"/>
            <a:ext cx="1143000" cy="155448"/>
          </a:xfrm>
          <a:prstGeom prst="rect">
            <a:avLst/>
          </a:prstGeom>
          <a:noFill/>
        </p:spPr>
        <p:txBody>
          <a:bodyPr wrap="square" lIns="73152" rIns="73152" anchor="t">
            <a:spAutoFit/>
          </a:bodyPr>
          <a:lstStyle/>
          <a:p>
            <a:pPr algn="l"/>
            <a:r>
              <a:rPr sz="1050" b="0">
                <a:solidFill>
                  <a:srgbClr val="1F2937"/>
                </a:solidFill>
                <a:latin typeface="Aptos"/>
              </a:rPr>
              <a:t>Current bill rate:</a:t>
            </a:r>
          </a:p>
        </p:txBody>
      </p:sp>
      <p:sp>
        <p:nvSpPr>
          <p:cNvPr id="62" name="Rectangle 61"/>
          <p:cNvSpPr/>
          <p:nvPr/>
        </p:nvSpPr>
        <p:spPr>
          <a:xfrm>
            <a:off x="9436608" y="5015484"/>
            <a:ext cx="245059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94192" y="5513832"/>
            <a:ext cx="1143000" cy="155448"/>
          </a:xfrm>
          <a:prstGeom prst="rect">
            <a:avLst/>
          </a:prstGeom>
          <a:noFill/>
        </p:spPr>
        <p:txBody>
          <a:bodyPr wrap="square" lIns="73152" rIns="73152" anchor="t">
            <a:spAutoFit/>
          </a:bodyPr>
          <a:lstStyle/>
          <a:p>
            <a:pPr algn="l"/>
            <a:r>
              <a:rPr sz="1050" b="0">
                <a:solidFill>
                  <a:srgbClr val="1F2937"/>
                </a:solidFill>
                <a:latin typeface="Aptos"/>
              </a:rPr>
              <a:t>New bill rate:</a:t>
            </a:r>
          </a:p>
        </p:txBody>
      </p:sp>
      <p:sp>
        <p:nvSpPr>
          <p:cNvPr id="64" name="Rectangle 63"/>
          <p:cNvSpPr/>
          <p:nvPr/>
        </p:nvSpPr>
        <p:spPr>
          <a:xfrm>
            <a:off x="9436608" y="5509260"/>
            <a:ext cx="245059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94192" y="5769864"/>
            <a:ext cx="1143000" cy="155448"/>
          </a:xfrm>
          <a:prstGeom prst="rect">
            <a:avLst/>
          </a:prstGeom>
          <a:noFill/>
        </p:spPr>
        <p:txBody>
          <a:bodyPr wrap="square" lIns="73152" rIns="73152" anchor="t">
            <a:spAutoFit/>
          </a:bodyPr>
          <a:lstStyle/>
          <a:p>
            <a:pPr algn="l"/>
            <a:r>
              <a:rPr sz="1050" b="0">
                <a:solidFill>
                  <a:srgbClr val="1F2937"/>
                </a:solidFill>
                <a:latin typeface="Aptos"/>
              </a:rPr>
              <a:t>Bill rate increase as of:</a:t>
            </a:r>
          </a:p>
        </p:txBody>
      </p:sp>
      <p:sp>
        <p:nvSpPr>
          <p:cNvPr id="66" name="Rectangle 65"/>
          <p:cNvSpPr/>
          <p:nvPr/>
        </p:nvSpPr>
        <p:spPr>
          <a:xfrm>
            <a:off x="9436608" y="5765292"/>
            <a:ext cx="2450592" cy="16459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94192" y="6016752"/>
            <a:ext cx="914400" cy="146304"/>
          </a:xfrm>
          <a:prstGeom prst="rect">
            <a:avLst/>
          </a:prstGeom>
          <a:noFill/>
        </p:spPr>
        <p:txBody>
          <a:bodyPr wrap="square" lIns="73152" rIns="73152" anchor="t">
            <a:spAutoFit/>
          </a:bodyPr>
          <a:lstStyle/>
          <a:p>
            <a:pPr algn="l"/>
            <a:r>
              <a:rPr sz="1050" b="0">
                <a:solidFill>
                  <a:srgbClr val="1F2937"/>
                </a:solidFill>
                <a:latin typeface="Aptos"/>
              </a:rPr>
              <a:t>Comments</a:t>
            </a:r>
          </a:p>
        </p:txBody>
      </p:sp>
      <p:sp>
        <p:nvSpPr>
          <p:cNvPr id="68" name="Rectangle 67"/>
          <p:cNvSpPr/>
          <p:nvPr/>
        </p:nvSpPr>
        <p:spPr>
          <a:xfrm>
            <a:off x="8394192" y="6153912"/>
            <a:ext cx="3493008" cy="484632"/>
          </a:xfrm>
          <a:prstGeom prst="rect">
            <a:avLst/>
          </a:prstGeom>
          <a:solidFill>
            <a:srgbClr val="FFFFFF"/>
          </a:solidFill>
          <a:ln>
            <a:solidFill>
              <a:srgbClr val="D8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5216" y="6510528"/>
            <a:ext cx="4572000" cy="109728"/>
          </a:xfrm>
          <a:prstGeom prst="rect">
            <a:avLst/>
          </a:prstGeom>
          <a:noFill/>
        </p:spPr>
        <p:txBody>
          <a:bodyPr wrap="square" lIns="73152" rIns="73152" anchor="t">
            <a:spAutoFit/>
          </a:bodyPr>
          <a:lstStyle/>
          <a:p>
            <a:pPr algn="l"/>
            <a:r>
              <a:rPr sz="780" b="0">
                <a:solidFill>
                  <a:srgbClr val="9CA3AF"/>
                </a:solidFill>
                <a:latin typeface="Aptos"/>
              </a:rPr>
              <a:t>© 2025 The Capital Markets Company. Capco Confidential. All rights reserved.</a:t>
            </a:r>
          </a:p>
        </p:txBody>
      </p:sp>
      <p:sp>
        <p:nvSpPr>
          <p:cNvPr id="70" name="TextBox 69"/>
          <p:cNvSpPr txBox="1"/>
          <p:nvPr/>
        </p:nvSpPr>
        <p:spPr>
          <a:xfrm>
            <a:off x="11795760" y="6473952"/>
            <a:ext cx="128016" cy="109728"/>
          </a:xfrm>
          <a:prstGeom prst="rect">
            <a:avLst/>
          </a:prstGeom>
          <a:noFill/>
        </p:spPr>
        <p:txBody>
          <a:bodyPr wrap="square" lIns="73152" rIns="73152" anchor="t">
            <a:spAutoFit/>
          </a:bodyPr>
          <a:lstStyle/>
          <a:p>
            <a:pPr algn="r"/>
            <a:r>
              <a:rPr sz="1000" b="0">
                <a:solidFill>
                  <a:srgbClr val="9CA3AF"/>
                </a:solidFill>
                <a:latin typeface="Aptos"/>
              </a:rPr>
              <a:t>5</a:t>
            </a:r>
          </a:p>
        </p:txBody>
      </p:sp>
      <p:sp>
        <p:nvSpPr>
          <p:cNvPr id="71" name="TextBox 70"/>
          <p:cNvSpPr txBox="1"/>
          <p:nvPr/>
        </p:nvSpPr>
        <p:spPr>
          <a:xfrm>
            <a:off x="585216" y="6300000"/>
            <a:ext cx="6000000" cy="180000"/>
          </a:xfrm>
          <a:prstGeom prst="rect">
            <a:avLst/>
          </a:prstGeom>
          <a:noFill/>
        </p:spPr>
        <p:txBody>
          <a:bodyPr wrap="none">
            <a:spAutoFit/>
          </a:bodyPr>
          <a:lstStyle/>
          <a:p>
            <a:r>
              <a:rPr sz="900">
                <a:solidFill>
                  <a:srgbClr val="6B7280"/>
                </a:solidFill>
              </a:rPr>
              <a:t>View full interactive portfolio →  </a:t>
            </a:r>
            <a:r>
              <a:rPr sz="900" u="sng">
                <a:solidFill>
                  <a:srgbClr val="009682"/>
                </a:solidFill>
                <a:hlinkClick r:id="rId2"/>
              </a:rPr>
              <a:t>jessiewang0926.github.io/Jessie-Capco-Journey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