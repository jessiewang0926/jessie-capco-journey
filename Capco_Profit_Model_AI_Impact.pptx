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BFA6"/>
                </a:solidFill>
                <a:latin typeface="Calibri"/>
              </a:rPr>
              <a:t>PROMOTION CASE  —  SUPPLEMENTAL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8ED"/>
                </a:solidFill>
                <a:latin typeface="Calibri"/>
              </a:rPr>
              <a:t>Understanding Capco’s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0BFA6"/>
                </a:solidFill>
                <a:latin typeface="Calibri"/>
              </a:rPr>
              <a:t>Profit Model &amp; AI-Driven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A0"/>
                </a:solidFill>
                <a:latin typeface="Calibri"/>
              </a:rPr>
              <a:t>How Capco turns engagements into profit — and how I leverage AI daily to deliver better client outcomes, accelerate delivery, and drive business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5556A"/>
                </a:solidFill>
                <a:latin typeface="Calibri"/>
              </a:rPr>
              <a:t>Jessie Wang  ·  Senior Consultant     |     Client: Jefferies — JefAI Program     |     Role: AI Product &amp; Delivery Lead</a:t>
            </a:r>
          </a:p>
        </p:txBody>
      </p:sp>
      <p:sp>
        <p:nvSpPr>
          <p:cNvPr id="7" name="Rectangle 6"/>
          <p:cNvSpPr/>
          <p:nvPr/>
        </p:nvSpPr>
        <p:spPr>
          <a:xfrm rot="21000000">
            <a:off x="10515600" y="5943600"/>
            <a:ext cx="1371600" cy="73152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—  BUSINESS ACUMEN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8ED"/>
                </a:solidFill>
                <a:latin typeface="Calibri"/>
              </a:rPr>
              <a:t>How Capco Makes Profit — and Where the Model Breaks 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Opportunity 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Client need surfaces via RFP or proactive pitch. Assess need, budget, authority, and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258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5544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Shaping &amp;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Build team pyramid (AO→Partner). Plug into global pricing model: grade, location, bill rate, duration, holidays, PTO. Choose T&amp;M or Fixed 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Revenue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Contract signed with TCV. Fixed Price = even monthly payments. T&amp;M = billable days × rate/month. Revenue recognized as team delivers.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234440"/>
            <a:ext cx="2651760" cy="141732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258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5544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Profit = The Arbitrage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82880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Margin = gap between client bill rate and Capco standard cost (salary + benefits). Target: 50%+ margin. Lower grades = higher margin.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18688" y="1783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FA6"/>
                </a:solidFill>
                <a:latin typeface="Calibri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1783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FA6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178308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BFA6"/>
                </a:solidFill>
                <a:latin typeface="Calibri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78892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004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620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6C8"/>
                </a:solidFill>
                <a:latin typeface="Calibri"/>
              </a:rPr>
              <a:t>Client Bill Rate ($X/day)</a:t>
            </a:r>
            <a:r>
              <a:rPr sz="1300" b="0">
                <a:solidFill>
                  <a:srgbClr val="55556A"/>
                </a:solidFill>
                <a:latin typeface="Calibri"/>
              </a:rPr>
              <a:t>  −  </a:t>
            </a:r>
            <a:r>
              <a:rPr sz="1300" b="1">
                <a:solidFill>
                  <a:srgbClr val="F0C040"/>
                </a:solidFill>
                <a:latin typeface="Calibri"/>
              </a:rPr>
              <a:t>Capco Standard Cost ($Y/day)</a:t>
            </a:r>
            <a:r>
              <a:rPr sz="1300" b="0">
                <a:solidFill>
                  <a:srgbClr val="55556A"/>
                </a:solidFill>
                <a:latin typeface="Calibri"/>
              </a:rPr>
              <a:t>  =  </a:t>
            </a:r>
            <a:r>
              <a:rPr sz="1300" b="1">
                <a:solidFill>
                  <a:srgbClr val="00BFA6"/>
                </a:solidFill>
                <a:latin typeface="Calibri"/>
              </a:rPr>
              <a:t>Project Margin (Profit)</a:t>
            </a:r>
            <a:r>
              <a:rPr sz="1300" b="0">
                <a:solidFill>
                  <a:srgbClr val="55556A"/>
                </a:solidFill>
                <a:latin typeface="Calibri"/>
              </a:rPr>
              <a:t>     |     </a:t>
            </a:r>
            <a:r>
              <a:rPr sz="1300" b="0">
                <a:solidFill>
                  <a:srgbClr val="FF6B6B"/>
                </a:solidFill>
                <a:latin typeface="Calibri"/>
              </a:rPr>
              <a:t>Margin compresses at senior grades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1188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11880"/>
            <a:ext cx="45720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03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⚠ Revenue Leakage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Approved budget left un-billed (sick days, excess PTO)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Client refuses milestone payments due to deliverable disputes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T&amp;M engagements under-tracked on timesheets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61188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611880"/>
            <a:ext cx="45720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03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⚠ Scope &amp; Effort Overruns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Delivery takes more hours than priced — bugs, complexity, rework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Fixed price contracts absorb extra cost, eroding margin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Insufficient buffer in original pricing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3776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937760"/>
            <a:ext cx="45720" cy="12344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▲ Market Pressure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Competitors willing to price lower — forces rate drops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Clients paying less for resource augmentation work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Margins compressed over last 2–5 years industry-wide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937760"/>
            <a:ext cx="5440680" cy="123444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937760"/>
            <a:ext cx="45720" cy="12344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029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8ED"/>
                </a:solidFill>
                <a:latin typeface="Calibri"/>
              </a:rPr>
              <a:t>▲ Utilization &amp; Bench Cost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Senior resources split across projects at part-time allocation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Investment-rate staffing to protect relationships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>
                <a:solidFill>
                  <a:srgbClr val="8888A0"/>
                </a:solidFill>
                <a:latin typeface="Calibri"/>
              </a:rPr>
              <a:t>  •  Bench time = cost with zero revenue offset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26364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0D1F1C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309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FA6"/>
                </a:solidFill>
                <a:latin typeface="Calibri"/>
              </a:rPr>
              <a:t>* My View as SC Leading AI at Jefferies:  </a:t>
            </a:r>
            <a:r>
              <a:rPr sz="1000">
                <a:solidFill>
                  <a:srgbClr val="8888A0"/>
                </a:solidFill>
                <a:latin typeface="Calibri"/>
              </a:rPr>
              <a:t>I operate above my level daily — leading a 26-person team, owning the JefAI roadmap, presenting to C-level. Capco bills me at SC rate for PC/MP-level work. Billing at the appropriate grade = margin upside for Capco.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—  AI-POWERED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E8ED"/>
                </a:solidFill>
                <a:latin typeface="Calibri"/>
              </a:rPr>
              <a:t>How I Use AI to Deliver </a:t>
            </a:r>
            <a:r>
              <a:rPr sz="2400" b="1">
                <a:solidFill>
                  <a:srgbClr val="00BFA6"/>
                </a:solidFill>
                <a:latin typeface="Calibri"/>
              </a:rPr>
              <a:t>Better Outcomes</a:t>
            </a:r>
            <a:r>
              <a:rPr sz="2400" b="1">
                <a:solidFill>
                  <a:srgbClr val="E8E8ED"/>
                </a:solidFill>
                <a:latin typeface="Calibri"/>
              </a:rPr>
              <a:t> &amp; Drive </a:t>
            </a:r>
            <a:r>
              <a:rPr sz="2400" b="1">
                <a:solidFill>
                  <a:srgbClr val="F0C040"/>
                </a:solidFill>
                <a:latin typeface="Calibri"/>
              </a:rPr>
              <a:t>Business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4416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LOVABLE / FIGMA /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Mockup to Interactive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Rapidly transform concepts into clickable prototypes for stakeholder feedback before production code. Eliminates costly misalignment.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Weeks of dev time saved per feature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2344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32588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34416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CLAUDE CODE / CODEX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64592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Full-Stack AI-Assisted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92024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Built the entire Jefferies AI Program Dashboard using Claude Code — a C-level reporting tool for project health, delivery tracking, and program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69748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Information transparency for leadership &amp;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23444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32588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134416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NOTEBOOKLM PODCAST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64592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Staying on the AI Frontier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192024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Use LLM-generated podcast briefings to stay current on AI developments — bringing cutting-edge insights to clients and aligning with JefAI roadmap.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69748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Client always gets latest AI strategy guidance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4612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INTERNAL CAPCO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5760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Codex &amp; AI Tooling Internally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Champion AI adoption within Capco — using Codex and Claude for internal projects, accelerating delivery velocity, and demonstrating ROI firm-wide.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Leading by example across the firm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5112" y="324612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3375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CLAUDE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65760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C-Level Reporting &amp; Clarity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93192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AI-built dashboards bring information transparency to everyone — from ICs to CTO. Better project delivery tracking, clearer communication, faster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70916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Clarity &amp; alignment across all stakeholders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4" y="3246120"/>
            <a:ext cx="3593592" cy="182880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33375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8E8ED"/>
                </a:solidFill>
                <a:latin typeface="Calibri"/>
              </a:rPr>
              <a:t>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4504" y="3355848"/>
            <a:ext cx="29535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00BFA6"/>
                </a:solidFill>
                <a:latin typeface="Calibri"/>
              </a:rPr>
              <a:t>END-TO-END AI WORKFLOW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365760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8E8ED"/>
                </a:solidFill>
                <a:latin typeface="Calibri"/>
              </a:rPr>
              <a:t>The Full Picture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3931920"/>
            <a:ext cx="3319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0"/>
                </a:solidFill>
                <a:latin typeface="Calibri"/>
              </a:rPr>
              <a:t>From ideation to prototype to production — AI is embedded in every phase. A proven delivery model that saves time, reduces cost, and improves quality.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8744" y="4709160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BFA6"/>
                </a:solidFill>
                <a:latin typeface="Calibri"/>
              </a:rPr>
              <a:t>→ AI as a force multiplier, not a buzzword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0352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16161F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BFA6"/>
                </a:solidFill>
                <a:latin typeface="Calibri"/>
              </a:rPr>
              <a:t>10x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888A0"/>
                </a:solidFill>
                <a:latin typeface="Calibri"/>
              </a:rPr>
              <a:t>Faster Prototyping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440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BFA6"/>
                </a:solidFill>
                <a:latin typeface="Calibri"/>
              </a:rPr>
              <a:t>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888A0"/>
                </a:solidFill>
                <a:latin typeface="Calibri"/>
              </a:rPr>
              <a:t>Engineering Team 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440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BFA6"/>
                </a:solidFill>
                <a:latin typeface="Calibri"/>
              </a:rP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888A0"/>
                </a:solidFill>
                <a:latin typeface="Calibri"/>
              </a:rPr>
              <a:t>AI-Built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440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0BFA6"/>
                </a:solidFill>
                <a:latin typeface="Calibri"/>
              </a:rPr>
              <a:t>C-Suite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8888A0"/>
                </a:solidFill>
                <a:latin typeface="Calibri"/>
              </a:rPr>
              <a:t>Stakeholder Visibility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5556A"/>
                </a:solidFill>
                <a:latin typeface="Calibri"/>
              </a:rPr>
              <a:t>◆  jessiewang0926.github.io/Jessie-Capco-Journey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